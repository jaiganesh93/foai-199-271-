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ED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0352" y="594360"/>
            <a:ext cx="598932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2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868680"/>
            <a:ext cx="5532120" cy="7498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1F69E6"/>
                </a:solidFill>
                <a:latin typeface="Aptos"/>
              </a:rPr>
              <a:t>AI-Based 8-Puzzle 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5440680" cy="10515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172B53"/>
                </a:solidFill>
                <a:latin typeface="Aptos"/>
              </a:rPr>
              <a:t>A Classical Search-Based Approach
to Intelligent Problem Solving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657600"/>
            <a:ext cx="5303520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FOUNDATIONS OF ARTIFICIAL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621024"/>
            <a:ext cx="5468112" cy="475488"/>
          </a:xfrm>
          <a:prstGeom prst="roundRect">
            <a:avLst/>
          </a:prstGeom>
          <a:solidFill>
            <a:srgbClr val="1F69E6"/>
          </a:solidFill>
          <a:ln w="12700">
            <a:solidFill>
              <a:srgbClr val="1F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3648456"/>
            <a:ext cx="5285232" cy="39319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FOUNDATIONS OF 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4416552"/>
            <a:ext cx="5394960" cy="29260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72B53"/>
                </a:solidFill>
                <a:latin typeface="Aptos"/>
              </a:rP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709160"/>
            <a:ext cx="548640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>
                <a:solidFill>
                  <a:srgbClr val="172B53"/>
                </a:solidFill>
                <a:latin typeface="Aptos"/>
              </a:rPr>
              <a:t>NAME: </a:t>
            </a:r>
            <a:r>
              <a:rPr lang="en-US" sz="1400" b="1" i="0" dirty="0">
                <a:solidFill>
                  <a:srgbClr val="172B53"/>
                </a:solidFill>
                <a:latin typeface="Aptos"/>
              </a:rPr>
              <a:t>JAI GANESH S, KISHOREATHAVA</a:t>
            </a:r>
            <a:r>
              <a:rPr sz="1400" b="1" i="0" dirty="0">
                <a:solidFill>
                  <a:srgbClr val="172B53"/>
                </a:solidFill>
                <a:latin typeface="Aptos"/>
              </a:rPr>
              <a:t>_</a:t>
            </a:r>
            <a:r>
              <a:rPr lang="en-US" sz="1400" b="1" i="0" dirty="0">
                <a:solidFill>
                  <a:srgbClr val="172B53"/>
                </a:solidFill>
                <a:latin typeface="Aptos"/>
              </a:rPr>
              <a:t>S</a:t>
            </a:r>
            <a:r>
              <a:rPr sz="1400" b="1" i="0" dirty="0">
                <a:solidFill>
                  <a:srgbClr val="172B53"/>
                </a:solidFill>
                <a:latin typeface="Aptos"/>
              </a:rPr>
              <a:t>___________________
REGISTER NUMBER: </a:t>
            </a:r>
            <a:r>
              <a:rPr lang="en-US" sz="1400" b="1" i="0" dirty="0">
                <a:solidFill>
                  <a:srgbClr val="172B53"/>
                </a:solidFill>
                <a:latin typeface="Aptos"/>
              </a:rPr>
              <a:t>240701199, 240701271</a:t>
            </a:r>
            <a:r>
              <a:rPr sz="1400" b="1" i="0" dirty="0">
                <a:solidFill>
                  <a:srgbClr val="172B53"/>
                </a:solidFill>
                <a:latin typeface="Aptos"/>
              </a:rPr>
              <a:t>____________________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731520"/>
            <a:ext cx="4480560" cy="448056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60920" y="914400"/>
            <a:ext cx="3749039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172B53"/>
                </a:solidFill>
                <a:latin typeface="Aptos"/>
              </a:rPr>
              <a:t>THE 8-PUZZLE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1508760"/>
            <a:ext cx="80467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26679" y="1527048"/>
            <a:ext cx="804672" cy="7772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72B53"/>
                </a:solidFill>
                <a:latin typeface="Aptos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1508760"/>
            <a:ext cx="80467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41080" y="1527048"/>
            <a:ext cx="804672" cy="7772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72B53"/>
                </a:solidFill>
                <a:latin typeface="Aptos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508760"/>
            <a:ext cx="80467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55480" y="1527048"/>
            <a:ext cx="804672" cy="7772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72B53"/>
                </a:solidFill>
                <a:latin typeface="Aptos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2423160"/>
            <a:ext cx="80467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26679" y="2441448"/>
            <a:ext cx="804672" cy="7772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72B53"/>
                </a:solidFill>
                <a:latin typeface="Aptos"/>
              </a:rP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2423160"/>
            <a:ext cx="80467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41080" y="2441448"/>
            <a:ext cx="804672" cy="7772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72B53"/>
                </a:solidFill>
                <a:latin typeface="Aptos"/>
              </a:rP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480" y="2423160"/>
            <a:ext cx="80467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55480" y="2441448"/>
            <a:ext cx="804672" cy="7772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72B53"/>
                </a:solidFill>
                <a:latin typeface="Aptos"/>
              </a:rPr>
              <a:t>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3337560"/>
            <a:ext cx="80467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26679" y="3355848"/>
            <a:ext cx="804672" cy="7772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72B53"/>
                </a:solidFill>
                <a:latin typeface="Aptos"/>
              </a:rPr>
              <a:t>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41080" y="3337560"/>
            <a:ext cx="80467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41080" y="3355848"/>
            <a:ext cx="804672" cy="7772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172B53"/>
                </a:solidFill>
                <a:latin typeface="Aptos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55480" y="3337560"/>
            <a:ext cx="804672" cy="804672"/>
          </a:xfrm>
          <a:prstGeom prst="roundRect">
            <a:avLst/>
          </a:prstGeom>
          <a:solidFill>
            <a:srgbClr val="1F69E6"/>
          </a:solidFill>
          <a:ln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0" y="4526280"/>
            <a:ext cx="384048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8778D"/>
                </a:solidFill>
                <a:latin typeface="Aptos"/>
              </a:rPr>
              <a:t>Initial state  →  Goal state</a:t>
            </a:r>
          </a:p>
        </p:txBody>
      </p:sp>
      <p:pic>
        <p:nvPicPr>
          <p:cNvPr id="31" name="Picture 30" descr="rec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5532120"/>
            <a:ext cx="2148840" cy="685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94360" y="6172200"/>
            <a:ext cx="5852160" cy="2560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78D"/>
                </a:solidFill>
                <a:latin typeface="Aptos"/>
              </a:rPr>
              <a:t>Rajalakshmi Engineering College  •  October 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1F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69E6"/>
                </a:solidFill>
                <a:latin typeface="Aptos"/>
              </a:rPr>
              <a:t>Problem Statement &amp; 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13816"/>
            <a:ext cx="777240" cy="50292"/>
          </a:xfrm>
          <a:prstGeom prst="rect">
            <a:avLst/>
          </a:prstGeom>
          <a:solidFill>
            <a:srgbClr val="58B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713232"/>
            <a:ext cx="978408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78D"/>
                </a:solidFill>
                <a:latin typeface="Aptos"/>
              </a:rPr>
              <a:t>Why the puzzle is useful for learning classical AI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8778D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5303520" cy="201168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143000"/>
            <a:ext cx="82296" cy="2011680"/>
          </a:xfrm>
          <a:prstGeom prst="rect">
            <a:avLst/>
          </a:prstGeom>
          <a:solidFill>
            <a:srgbClr val="1F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261872"/>
            <a:ext cx="4956048" cy="32918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2B53"/>
                </a:solidFill>
                <a:latin typeface="Aptos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655064"/>
            <a:ext cx="4937759" cy="13898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6354E"/>
                </a:solidFill>
                <a:latin typeface="Aptos"/>
              </a:rPr>
              <a:t>Given a valid 3 × 3 board, find a sequence of legal tile moves that transforms the initial arrangement into the goal arrangement. The solver should avoid revisiting states and report the solution path and move count.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349240" cy="201168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82296" cy="2011680"/>
          </a:xfrm>
          <a:prstGeom prst="rect">
            <a:avLst/>
          </a:prstGeom>
          <a:solidFill>
            <a:srgbClr val="58B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261872"/>
            <a:ext cx="5001768" cy="32918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2B53"/>
                </a:solidFill>
                <a:latin typeface="Aptos"/>
              </a:rPr>
              <a:t>Abstract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655064"/>
            <a:ext cx="4983479" cy="13898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6354E"/>
                </a:solidFill>
                <a:latin typeface="Aptos"/>
              </a:rPr>
              <a:t>The project models each board as a state and each legal slide as an action. It uses A* search with Manhattan distance to prioritize states that are estimated to be closer to the goal.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74720"/>
            <a:ext cx="1088136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72B53"/>
                </a:solidFill>
                <a:latin typeface="Aptos"/>
              </a:rPr>
              <a:t>Core AI concepts demonstrated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041648"/>
            <a:ext cx="2606040" cy="132588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" y="4187952"/>
            <a:ext cx="2340864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F69E6"/>
                </a:solidFill>
                <a:latin typeface="Aptos"/>
              </a:rPr>
              <a:t>State 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4553712"/>
            <a:ext cx="2304288" cy="6583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All valid board arrangements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4041648"/>
            <a:ext cx="2606040" cy="132588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02736" y="4187952"/>
            <a:ext cx="2340864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F69E6"/>
                </a:solidFill>
                <a:latin typeface="Aptos"/>
              </a:rPr>
              <a:t>Operators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4553712"/>
            <a:ext cx="2304288" cy="6583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Move an adjacent tile into the blank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041648"/>
            <a:ext cx="2606040" cy="132588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83096" y="4187952"/>
            <a:ext cx="2340864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F69E6"/>
                </a:solidFill>
                <a:latin typeface="Aptos"/>
              </a:rPr>
              <a:t>Goal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4553712"/>
            <a:ext cx="2304288" cy="6583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Check if the target arrangement is reached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4041648"/>
            <a:ext cx="2606040" cy="132588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63456" y="4187952"/>
            <a:ext cx="2340864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F69E6"/>
                </a:solidFill>
                <a:latin typeface="Aptos"/>
              </a:rPr>
              <a:t>Heuristic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81744" y="4553712"/>
            <a:ext cx="2304288" cy="6583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Estimate remaining moves using Manhattan distance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806440"/>
            <a:ext cx="1051560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72B53"/>
                </a:solidFill>
                <a:latin typeface="Aptos"/>
              </a:rPr>
              <a:t>A* evaluation:  f(n) = g(n) + h(n)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1F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69E6"/>
                </a:solidFill>
                <a:latin typeface="Aptos"/>
              </a:rPr>
              <a:t>Search Methods: Quick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13816"/>
            <a:ext cx="777240" cy="50292"/>
          </a:xfrm>
          <a:prstGeom prst="rect">
            <a:avLst/>
          </a:prstGeom>
          <a:solidFill>
            <a:srgbClr val="58B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713232"/>
            <a:ext cx="978408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78D"/>
                </a:solidFill>
                <a:latin typeface="Aptos"/>
              </a:rPr>
              <a:t>The report compares standard classical search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8778D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1755648" cy="502920"/>
          </a:xfrm>
          <a:prstGeom prst="roundRect">
            <a:avLst/>
          </a:prstGeom>
          <a:solidFill>
            <a:srgbClr val="1F69E6"/>
          </a:solidFill>
          <a:ln w="12700">
            <a:solidFill>
              <a:srgbClr val="1F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" y="1271016"/>
            <a:ext cx="164592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Method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234440"/>
            <a:ext cx="2990088" cy="502920"/>
          </a:xfrm>
          <a:prstGeom prst="roundRect">
            <a:avLst/>
          </a:prstGeom>
          <a:solidFill>
            <a:srgbClr val="1F69E6"/>
          </a:solidFill>
          <a:ln w="12700">
            <a:solidFill>
              <a:srgbClr val="1F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78024" y="1271016"/>
            <a:ext cx="288036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Main idea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234440"/>
            <a:ext cx="2807208" cy="502920"/>
          </a:xfrm>
          <a:prstGeom prst="roundRect">
            <a:avLst/>
          </a:prstGeom>
          <a:solidFill>
            <a:srgbClr val="1F69E6"/>
          </a:solidFill>
          <a:ln w="12700">
            <a:solidFill>
              <a:srgbClr val="1F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41264" y="1271016"/>
            <a:ext cx="2697479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Strength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234440"/>
            <a:ext cx="3127248" cy="502920"/>
          </a:xfrm>
          <a:prstGeom prst="roundRect">
            <a:avLst/>
          </a:prstGeom>
          <a:solidFill>
            <a:srgbClr val="1F69E6"/>
          </a:solidFill>
          <a:ln w="12700">
            <a:solidFill>
              <a:srgbClr val="1F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21624" y="1271016"/>
            <a:ext cx="301752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Limitation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1856232"/>
            <a:ext cx="1755648" cy="841248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1929384"/>
            <a:ext cx="1581912" cy="69494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9E6"/>
                </a:solidFill>
                <a:latin typeface="Aptos"/>
              </a:rPr>
              <a:t>BFS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" y="1856232"/>
            <a:ext cx="2990088" cy="841248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14600" y="1929384"/>
            <a:ext cx="2816352" cy="69494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Explores states level by level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1856232"/>
            <a:ext cx="2807208" cy="841248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77840" y="1929384"/>
            <a:ext cx="2633472" cy="69494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Complete; shortest path for equal-cost moves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1856232"/>
            <a:ext cx="3127248" cy="841248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8200" y="1929384"/>
            <a:ext cx="2953512" cy="69494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Can use substantial memory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2816352"/>
            <a:ext cx="175564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2889504"/>
            <a:ext cx="1581912" cy="69494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9E6"/>
                </a:solidFill>
                <a:latin typeface="Aptos"/>
              </a:rPr>
              <a:t>DFS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23160" y="2816352"/>
            <a:ext cx="299008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14600" y="2889504"/>
            <a:ext cx="2816352" cy="69494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Explores one branch deeply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2816352"/>
            <a:ext cx="280720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77840" y="2889504"/>
            <a:ext cx="2633472" cy="69494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Low memory in many cases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2816352"/>
            <a:ext cx="312724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58200" y="2889504"/>
            <a:ext cx="2953512" cy="69494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Not generally optimal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3776472"/>
            <a:ext cx="1755648" cy="841248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3849624"/>
            <a:ext cx="1581912" cy="69494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9E6"/>
                </a:solidFill>
                <a:latin typeface="Aptos"/>
              </a:rPr>
              <a:t>A*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23160" y="3776472"/>
            <a:ext cx="2990088" cy="841248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514600" y="3849624"/>
            <a:ext cx="2816352" cy="69494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Ranks states using g(n) + h(n)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3776472"/>
            <a:ext cx="2807208" cy="841248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77840" y="3849624"/>
            <a:ext cx="2633472" cy="69494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Can find an optimal solution with a suitable heuristic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66760" y="3776472"/>
            <a:ext cx="3127248" cy="841248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58200" y="3849624"/>
            <a:ext cx="2953512" cy="69494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Memory use can still be high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736592"/>
            <a:ext cx="175564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5800" y="4809744"/>
            <a:ext cx="1581912" cy="69494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69E6"/>
                </a:solidFill>
                <a:latin typeface="Aptos"/>
              </a:rPr>
              <a:t>Manhattan distance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423160" y="4736592"/>
            <a:ext cx="299008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514600" y="4809744"/>
            <a:ext cx="2816352" cy="69494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Adds each tile's row and column distance to its goal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0" y="4736592"/>
            <a:ext cx="280720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77840" y="4809744"/>
            <a:ext cx="2633472" cy="69494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Admissible for the standard 8-puzzle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66760" y="4736592"/>
            <a:ext cx="312724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58200" y="4809744"/>
            <a:ext cx="2953512" cy="69494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Does not model tile interactions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72B53"/>
                </a:solidFill>
                <a:latin typeface="Aptos"/>
              </a:rPr>
              <a:t>Project choice: A* + Manhattan distance balances goal-directed search with an optimality guarantee.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1F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69E6"/>
                </a:solidFill>
                <a:latin typeface="Aptos"/>
              </a:rPr>
              <a:t>Problem Formulation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13816"/>
            <a:ext cx="777240" cy="50292"/>
          </a:xfrm>
          <a:prstGeom prst="rect">
            <a:avLst/>
          </a:prstGeom>
          <a:solidFill>
            <a:srgbClr val="58B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713232"/>
            <a:ext cx="978408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78D"/>
                </a:solidFill>
                <a:latin typeface="Aptos"/>
              </a:rPr>
              <a:t>Represent the puzzle as a finite state-space search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8778D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840480" cy="452628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44752"/>
            <a:ext cx="329184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72B53"/>
                </a:solidFill>
                <a:latin typeface="Aptos"/>
              </a:rPr>
              <a:t>Example goal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2057400"/>
            <a:ext cx="758952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2075688"/>
            <a:ext cx="758952" cy="73151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172B53"/>
                </a:solidFill>
                <a:latin typeface="Aptos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2057400"/>
            <a:ext cx="758952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94560" y="2075688"/>
            <a:ext cx="758952" cy="73151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172B53"/>
                </a:solidFill>
                <a:latin typeface="Aptos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39" y="2057400"/>
            <a:ext cx="758952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63239" y="2075688"/>
            <a:ext cx="758952" cy="73151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172B53"/>
                </a:solidFill>
                <a:latin typeface="Apto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2926080"/>
            <a:ext cx="758952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5880" y="2944368"/>
            <a:ext cx="758952" cy="73151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172B53"/>
                </a:solidFill>
                <a:latin typeface="Aptos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2926080"/>
            <a:ext cx="758952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94560" y="2944368"/>
            <a:ext cx="758952" cy="73151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172B53"/>
                </a:solidFill>
                <a:latin typeface="Aptos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39" y="2926080"/>
            <a:ext cx="758952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63239" y="2944368"/>
            <a:ext cx="758952" cy="73151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172B53"/>
                </a:solidFill>
                <a:latin typeface="Aptos"/>
              </a:rPr>
              <a:t>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3794760"/>
            <a:ext cx="758952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25880" y="3813048"/>
            <a:ext cx="758952" cy="73151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172B53"/>
                </a:solidFill>
                <a:latin typeface="Aptos"/>
              </a:rPr>
              <a:t>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0" y="3794760"/>
            <a:ext cx="758952" cy="758952"/>
          </a:xfrm>
          <a:prstGeom prst="roundRect">
            <a:avLst/>
          </a:prstGeom>
          <a:solidFill>
            <a:srgbClr val="FFFFFF"/>
          </a:solidFill>
          <a:ln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94560" y="3813048"/>
            <a:ext cx="758952" cy="731519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172B53"/>
                </a:solidFill>
                <a:latin typeface="Aptos"/>
              </a:rPr>
              <a:t>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63239" y="3794760"/>
            <a:ext cx="758952" cy="758952"/>
          </a:xfrm>
          <a:prstGeom prst="roundRect">
            <a:avLst/>
          </a:prstGeom>
          <a:solidFill>
            <a:srgbClr val="1F69E6"/>
          </a:solidFill>
          <a:ln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4892040"/>
            <a:ext cx="320040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68778D"/>
                </a:solidFill>
                <a:latin typeface="Aptos"/>
              </a:rPr>
              <a:t>0 represents the blank space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00600" y="1234440"/>
            <a:ext cx="3017520" cy="123444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800600" y="1234440"/>
            <a:ext cx="82296" cy="1234440"/>
          </a:xfrm>
          <a:prstGeom prst="rect">
            <a:avLst/>
          </a:prstGeom>
          <a:solidFill>
            <a:srgbClr val="1F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01768" y="1353312"/>
            <a:ext cx="2670048" cy="32918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2B53"/>
                </a:solidFill>
                <a:latin typeface="Aptos"/>
              </a:rPr>
              <a:t>Initial state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01768" y="1746504"/>
            <a:ext cx="2651760" cy="6126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54E"/>
                </a:solidFill>
                <a:latin typeface="Aptos"/>
              </a:rPr>
              <a:t>The board supplied by the user.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1234440"/>
            <a:ext cx="3383280" cy="123444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38160" y="1234440"/>
            <a:ext cx="82296" cy="1234440"/>
          </a:xfrm>
          <a:prstGeom prst="rect">
            <a:avLst/>
          </a:prstGeom>
          <a:solidFill>
            <a:srgbClr val="58B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39328" y="1353312"/>
            <a:ext cx="3035808" cy="32918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2B53"/>
                </a:solidFill>
                <a:latin typeface="Aptos"/>
              </a:rPr>
              <a:t>Goal 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1746504"/>
            <a:ext cx="3017520" cy="6126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54E"/>
                </a:solidFill>
                <a:latin typeface="Aptos"/>
              </a:rPr>
              <a:t>1 2 3 / 4 5 6 / 7 8 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00600" y="2697480"/>
            <a:ext cx="3017520" cy="123444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800600" y="2697480"/>
            <a:ext cx="82296" cy="1234440"/>
          </a:xfrm>
          <a:prstGeom prst="rect">
            <a:avLst/>
          </a:prstGeom>
          <a:solidFill>
            <a:srgbClr val="269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01768" y="2816352"/>
            <a:ext cx="2670048" cy="32918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2B53"/>
                </a:solidFill>
                <a:latin typeface="Aptos"/>
              </a:rPr>
              <a:t>Actions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01768" y="3209544"/>
            <a:ext cx="2651760" cy="6126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54E"/>
                </a:solidFill>
                <a:latin typeface="Aptos"/>
              </a:rPr>
              <a:t>Slide a legal adjacent tile into the blank: up, down, left or right.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2697480"/>
            <a:ext cx="3383280" cy="123444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138160" y="2697480"/>
            <a:ext cx="82296" cy="1234440"/>
          </a:xfrm>
          <a:prstGeom prst="rect">
            <a:avLst/>
          </a:prstGeom>
          <a:solidFill>
            <a:srgbClr val="1F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39328" y="2816352"/>
            <a:ext cx="3035808" cy="32918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2B53"/>
                </a:solidFill>
                <a:latin typeface="Aptos"/>
              </a:rPr>
              <a:t>Path cost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8" y="3209544"/>
            <a:ext cx="3017520" cy="6126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54E"/>
                </a:solidFill>
                <a:latin typeface="Aptos"/>
              </a:rPr>
              <a:t>Each tile movement has cost 1; the goal is to minimize total moves.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00600" y="4160520"/>
            <a:ext cx="6720840" cy="123444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800600" y="4160520"/>
            <a:ext cx="82296" cy="1234440"/>
          </a:xfrm>
          <a:prstGeom prst="rect">
            <a:avLst/>
          </a:prstGeom>
          <a:solidFill>
            <a:srgbClr val="58B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01768" y="4279392"/>
            <a:ext cx="6373368" cy="32918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2B53"/>
                </a:solidFill>
                <a:latin typeface="Aptos"/>
              </a:rPr>
              <a:t>Solvability check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01768" y="4672583"/>
            <a:ext cx="6355079" cy="6126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54E"/>
                </a:solidFill>
                <a:latin typeface="Aptos"/>
              </a:rPr>
              <a:t>For a 3 × 3 board, count inversions among numbered tiles. Even inversion parity is solvable for the standard goal.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1F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69E6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13816"/>
            <a:ext cx="777240" cy="50292"/>
          </a:xfrm>
          <a:prstGeom prst="rect">
            <a:avLst/>
          </a:prstGeom>
          <a:solidFill>
            <a:srgbClr val="58B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713232"/>
            <a:ext cx="978408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78D"/>
                </a:solidFill>
                <a:latin typeface="Aptos"/>
              </a:rPr>
              <a:t>From user input to an ordered sequence of board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8778D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57400"/>
            <a:ext cx="1645920" cy="164592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2267712"/>
            <a:ext cx="1499616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69E6"/>
                </a:solidFill>
                <a:latin typeface="Aptos"/>
              </a:rPr>
              <a:t>1.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88920"/>
            <a:ext cx="1426464" cy="6583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Read 9 tiles
and goal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39" y="2578608"/>
            <a:ext cx="256032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58BEF4"/>
                </a:solidFill>
                <a:latin typeface="Aptos"/>
              </a:rPr>
              <a:t>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2057400"/>
            <a:ext cx="1645920" cy="164592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96312" y="2267712"/>
            <a:ext cx="1499616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69E6"/>
                </a:solidFill>
                <a:latin typeface="Aptos"/>
              </a:rPr>
              <a:t>2. 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2788920"/>
            <a:ext cx="1426464" cy="6583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Check values
0 through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578608"/>
            <a:ext cx="256032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58BEF4"/>
                </a:solidFill>
                <a:latin typeface="Aptos"/>
              </a:rPr>
              <a:t>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057400"/>
            <a:ext cx="1645920" cy="164592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2272" y="2267712"/>
            <a:ext cx="1499616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69E6"/>
                </a:solidFill>
                <a:latin typeface="Aptos"/>
              </a:rPr>
              <a:t>3. SOLVABILITY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788920"/>
            <a:ext cx="1426464" cy="6583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Check inversion
parity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2578608"/>
            <a:ext cx="256032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58BEF4"/>
                </a:solidFill>
                <a:latin typeface="Aptos"/>
              </a:rPr>
              <a:t>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057400"/>
            <a:ext cx="1645920" cy="164592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8232" y="2267712"/>
            <a:ext cx="1499616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69E6"/>
                </a:solidFill>
                <a:latin typeface="Aptos"/>
              </a:rPr>
              <a:t>4. STATE GENERATOR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788920"/>
            <a:ext cx="1426464" cy="6583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Create legal
successor states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578608"/>
            <a:ext cx="256032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58BEF4"/>
                </a:solidFill>
                <a:latin typeface="Aptos"/>
              </a:rPr>
              <a:t>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2057400"/>
            <a:ext cx="1645920" cy="164592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94192" y="2267712"/>
            <a:ext cx="1499616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69E6"/>
                </a:solidFill>
                <a:latin typeface="Aptos"/>
              </a:rPr>
              <a:t>5. A* 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7" y="2788920"/>
            <a:ext cx="1426464" cy="6583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Priority queue
f(n) = g(n)+h(n)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2578608"/>
            <a:ext cx="256032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58BEF4"/>
                </a:solidFill>
                <a:latin typeface="Aptos"/>
              </a:rPr>
              <a:t>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20" y="2057400"/>
            <a:ext cx="1600200" cy="164592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177272" y="2267712"/>
            <a:ext cx="1453896" cy="43891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69E6"/>
                </a:solidFill>
                <a:latin typeface="Aptos"/>
              </a:rPr>
              <a:t>6.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13848" y="2788920"/>
            <a:ext cx="1380744" cy="6583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Reconstruct path
and move count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" y="4343400"/>
            <a:ext cx="10149840" cy="1005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34440" y="4526280"/>
            <a:ext cx="969264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172B53"/>
                </a:solidFill>
                <a:latin typeface="Aptos"/>
              </a:rPr>
              <a:t>For every discovered state, store the best known path cost and parent state. When the goal is reached, follow parent links backward and reverse the path.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1F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69E6"/>
                </a:solidFill>
                <a:latin typeface="Aptos"/>
              </a:rPr>
              <a:t>A* Search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13816"/>
            <a:ext cx="777240" cy="50292"/>
          </a:xfrm>
          <a:prstGeom prst="rect">
            <a:avLst/>
          </a:prstGeom>
          <a:solidFill>
            <a:srgbClr val="58B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713232"/>
            <a:ext cx="978408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78D"/>
                </a:solidFill>
                <a:latin typeface="Aptos"/>
              </a:rPr>
              <a:t>The heuristic helps prioritize promising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8778D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5212080" cy="132588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82296" cy="1325880"/>
          </a:xfrm>
          <a:prstGeom prst="rect">
            <a:avLst/>
          </a:prstGeom>
          <a:solidFill>
            <a:srgbClr val="1F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307592"/>
            <a:ext cx="4864608" cy="32918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2B53"/>
                </a:solidFill>
                <a:latin typeface="Aptos"/>
              </a:rPr>
              <a:t>g(n) — Path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00784"/>
            <a:ext cx="4846320" cy="7040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6354E"/>
                </a:solidFill>
                <a:latin typeface="Aptos"/>
              </a:rPr>
              <a:t>Number of moves already taken from the initial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188720"/>
            <a:ext cx="5212080" cy="132588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82296" cy="1325880"/>
          </a:xfrm>
          <a:prstGeom prst="rect">
            <a:avLst/>
          </a:prstGeom>
          <a:solidFill>
            <a:srgbClr val="58B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307592"/>
            <a:ext cx="4864608" cy="32918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2B53"/>
                </a:solidFill>
                <a:latin typeface="Aptos"/>
              </a:rPr>
              <a:t>h(n) — Heuristic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1700784"/>
            <a:ext cx="4846320" cy="7040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6354E"/>
                </a:solidFill>
                <a:latin typeface="Aptos"/>
              </a:rPr>
              <a:t>Sum of Manhattan distances for tiles 1–8; ignore the blank.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880360"/>
            <a:ext cx="10561320" cy="822960"/>
          </a:xfrm>
          <a:prstGeom prst="roundRect">
            <a:avLst/>
          </a:prstGeom>
          <a:solidFill>
            <a:srgbClr val="1F69E6"/>
          </a:solidFill>
          <a:ln w="12700">
            <a:solidFill>
              <a:srgbClr val="1F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2999232"/>
            <a:ext cx="10058400" cy="5486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ptos"/>
              </a:rPr>
              <a:t>f(n) = g(n) + h(n)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023360"/>
            <a:ext cx="10149840" cy="17373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354E"/>
                </a:solidFill>
                <a:latin typeface="Aptos"/>
              </a:defRPr>
            </a:pPr>
            <a:r>
              <a:t>•  Insert the initial state into a priority queue.</a:t>
            </a:r>
          </a:p>
          <a:p>
            <a:pPr>
              <a:spcAft>
                <a:spcPts val="800"/>
              </a:spcAft>
              <a:defRPr sz="1500">
                <a:solidFill>
                  <a:srgbClr val="26354E"/>
                </a:solidFill>
                <a:latin typeface="Aptos"/>
              </a:defRPr>
            </a:pPr>
            <a:r>
              <a:t>•  Remove the state with the smallest f(n); stop if it is the goal.</a:t>
            </a:r>
          </a:p>
          <a:p>
            <a:pPr>
              <a:spcAft>
                <a:spcPts val="800"/>
              </a:spcAft>
              <a:defRPr sz="1500">
                <a:solidFill>
                  <a:srgbClr val="26354E"/>
                </a:solidFill>
                <a:latin typeface="Aptos"/>
              </a:defRPr>
            </a:pPr>
            <a:r>
              <a:t>•  Generate legal successor states and update cost and parent when a better path is found.</a:t>
            </a:r>
          </a:p>
          <a:p>
            <a:pPr>
              <a:spcAft>
                <a:spcPts val="800"/>
              </a:spcAft>
              <a:defRPr sz="1500">
                <a:solidFill>
                  <a:srgbClr val="26354E"/>
                </a:solidFill>
                <a:latin typeface="Aptos"/>
              </a:defRPr>
            </a:pPr>
            <a:r>
              <a:t>•  If the frontier empties, report that no solution was found.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1F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69E6"/>
                </a:solidFill>
                <a:latin typeface="Aptos"/>
              </a:rPr>
              <a:t>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13816"/>
            <a:ext cx="777240" cy="50292"/>
          </a:xfrm>
          <a:prstGeom prst="rect">
            <a:avLst/>
          </a:prstGeom>
          <a:solidFill>
            <a:srgbClr val="58B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713232"/>
            <a:ext cx="978408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78D"/>
                </a:solidFill>
                <a:latin typeface="Aptos"/>
              </a:rPr>
              <a:t>Six focused modules make the solver easier to test and maintain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8778D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520440" cy="196596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380744"/>
            <a:ext cx="310896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69E6"/>
                </a:solidFill>
                <a:latin typeface="Aptos"/>
              </a:rPr>
              <a:t>MODULE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3108960" cy="47548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2B53"/>
                </a:solidFill>
                <a:latin typeface="Aptos"/>
              </a:rPr>
              <a:t>Input &amp; Board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310896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Checks nine entries and ensures every value 0–8 appears once.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234440"/>
            <a:ext cx="3520440" cy="196596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380744"/>
            <a:ext cx="310896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8BEF4"/>
                </a:solidFill>
                <a:latin typeface="Aptos"/>
              </a:rPr>
              <a:t>MODULE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709928"/>
            <a:ext cx="3108960" cy="47548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2B53"/>
                </a:solidFill>
                <a:latin typeface="Aptos"/>
              </a:rPr>
              <a:t>Solvability Checker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40280"/>
            <a:ext cx="310896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Counts inversions and rejects unsolvable arrangements before search.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234440"/>
            <a:ext cx="3520440" cy="196596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1380744"/>
            <a:ext cx="310896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9B75"/>
                </a:solidFill>
                <a:latin typeface="Aptos"/>
              </a:rPr>
              <a:t>MODULE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709928"/>
            <a:ext cx="3108960" cy="47548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2B53"/>
                </a:solidFill>
                <a:latin typeface="Aptos"/>
              </a:rPr>
              <a:t>State-Space 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240280"/>
            <a:ext cx="310896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Finds the blank and generates legal adjacent swaps.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66160"/>
            <a:ext cx="3520440" cy="196596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712463"/>
            <a:ext cx="310896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F69E6"/>
                </a:solidFill>
                <a:latin typeface="Aptos"/>
              </a:rPr>
              <a:t>MODULE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041648"/>
            <a:ext cx="3108960" cy="47548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2B53"/>
                </a:solidFill>
                <a:latin typeface="Aptos"/>
              </a:rPr>
              <a:t>A* Search &amp; Heuristic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72000"/>
            <a:ext cx="310896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Uses a priority queue and Manhattan distance to rank states.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566160"/>
            <a:ext cx="3520440" cy="196596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7720" y="3712463"/>
            <a:ext cx="310896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8BEF4"/>
                </a:solidFill>
                <a:latin typeface="Aptos"/>
              </a:rPr>
              <a:t>MODULE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041648"/>
            <a:ext cx="3108960" cy="47548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2B53"/>
                </a:solidFill>
                <a:latin typeface="Aptos"/>
              </a:rPr>
              <a:t>Path Reconstruction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572000"/>
            <a:ext cx="310896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Tracks parent states and rebuilds the ordered solution.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566160"/>
            <a:ext cx="3520440" cy="196596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200" y="3712463"/>
            <a:ext cx="310896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69B75"/>
                </a:solidFill>
                <a:latin typeface="Aptos"/>
              </a:rPr>
              <a:t>MODULE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041648"/>
            <a:ext cx="3108960" cy="47548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2B53"/>
                </a:solidFill>
                <a:latin typeface="Aptos"/>
              </a:rPr>
              <a:t>Results &amp; 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572000"/>
            <a:ext cx="3108960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6354E"/>
                </a:solidFill>
                <a:latin typeface="Aptos"/>
              </a:rPr>
              <a:t>Displays solution status, moves, expanded states and elapsed time.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1F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69E6"/>
                </a:solidFill>
                <a:latin typeface="Aptos"/>
              </a:rPr>
              <a:t>Test Cases &amp; Expected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13816"/>
            <a:ext cx="777240" cy="50292"/>
          </a:xfrm>
          <a:prstGeom prst="rect">
            <a:avLst/>
          </a:prstGeom>
          <a:solidFill>
            <a:srgbClr val="58B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713232"/>
            <a:ext cx="978408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78D"/>
                </a:solidFill>
                <a:latin typeface="Aptos"/>
              </a:rPr>
              <a:t>These are functional test expectations, not measured benchmark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8778D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841248" cy="502920"/>
          </a:xfrm>
          <a:prstGeom prst="roundRect">
            <a:avLst/>
          </a:prstGeom>
          <a:solidFill>
            <a:srgbClr val="1F69E6"/>
          </a:solidFill>
          <a:ln w="12700">
            <a:solidFill>
              <a:srgbClr val="1F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271016"/>
            <a:ext cx="749808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1234440"/>
            <a:ext cx="2761488" cy="502920"/>
          </a:xfrm>
          <a:prstGeom prst="roundRect">
            <a:avLst/>
          </a:prstGeom>
          <a:solidFill>
            <a:srgbClr val="1F69E6"/>
          </a:solidFill>
          <a:ln w="12700">
            <a:solidFill>
              <a:srgbClr val="1F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91640" y="1271016"/>
            <a:ext cx="2670048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Initial 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234440"/>
            <a:ext cx="7104888" cy="502920"/>
          </a:xfrm>
          <a:prstGeom prst="roundRect">
            <a:avLst/>
          </a:prstGeom>
          <a:solidFill>
            <a:srgbClr val="1F69E6"/>
          </a:solidFill>
          <a:ln w="12700">
            <a:solidFill>
              <a:srgbClr val="1F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79" y="1271016"/>
            <a:ext cx="7013448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Expected behaviour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856232"/>
            <a:ext cx="841248" cy="658368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1911096"/>
            <a:ext cx="640080" cy="53035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69E6"/>
                </a:solidFill>
                <a:latin typeface="Aptos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1856232"/>
            <a:ext cx="2761488" cy="658368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55648" y="1911096"/>
            <a:ext cx="2560320" cy="53035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26354E"/>
                </a:solidFill>
                <a:latin typeface="Aptos"/>
              </a:rPr>
              <a:t>123 / 456 / 780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1856232"/>
            <a:ext cx="7104888" cy="658368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0288" y="1911096"/>
            <a:ext cx="6903720" cy="53035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54E"/>
                </a:solidFill>
                <a:latin typeface="Aptos"/>
              </a:rPr>
              <a:t>Already at goal; solution requires 0 moves.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642616"/>
            <a:ext cx="84124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2697480"/>
            <a:ext cx="640080" cy="53035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69E6"/>
                </a:solidFill>
                <a:latin typeface="Aptos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45920" y="2642616"/>
            <a:ext cx="27614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55648" y="2697480"/>
            <a:ext cx="2560320" cy="53035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26354E"/>
                </a:solidFill>
                <a:latin typeface="Aptos"/>
              </a:rPr>
              <a:t>123 / 456 / 708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2642616"/>
            <a:ext cx="71048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2697480"/>
            <a:ext cx="6903720" cy="53035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54E"/>
                </a:solidFill>
                <a:latin typeface="Aptos"/>
              </a:rPr>
              <a:t>Solvable; one move to goal.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429000"/>
            <a:ext cx="841248" cy="658368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" y="3483864"/>
            <a:ext cx="640080" cy="53035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69E6"/>
                </a:solidFill>
                <a:latin typeface="Aptos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45920" y="3429000"/>
            <a:ext cx="2761488" cy="658368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55648" y="3483864"/>
            <a:ext cx="2560320" cy="53035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26354E"/>
                </a:solidFill>
                <a:latin typeface="Aptos"/>
              </a:rPr>
              <a:t>123 / 456 / 078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59" y="3429000"/>
            <a:ext cx="7104888" cy="658368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90288" y="3483864"/>
            <a:ext cx="6903720" cy="53035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54E"/>
                </a:solidFill>
                <a:latin typeface="Aptos"/>
              </a:rPr>
              <a:t>Solvable; two moves to goal.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215384"/>
            <a:ext cx="84124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" y="4270248"/>
            <a:ext cx="640080" cy="53035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69E6"/>
                </a:solidFill>
                <a:latin typeface="Aptos"/>
              </a:rP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45920" y="4215384"/>
            <a:ext cx="27614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755648" y="4270248"/>
            <a:ext cx="2560320" cy="53035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26354E"/>
                </a:solidFill>
                <a:latin typeface="Aptos"/>
              </a:rPr>
              <a:t>123 / 456 / 870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59" y="4215384"/>
            <a:ext cx="7104888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90288" y="4270248"/>
            <a:ext cx="6903720" cy="53035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54E"/>
                </a:solidFill>
                <a:latin typeface="Aptos"/>
              </a:rPr>
              <a:t>Unsolvable for the standard goal; parity check rejects it.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001768"/>
            <a:ext cx="841248" cy="658368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8" y="5056632"/>
            <a:ext cx="640080" cy="53035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69E6"/>
                </a:solidFill>
                <a:latin typeface="Aptos"/>
              </a:rPr>
              <a:t>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45920" y="5001768"/>
            <a:ext cx="2761488" cy="658368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755648" y="5056632"/>
            <a:ext cx="2560320" cy="53035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26354E"/>
                </a:solidFill>
                <a:latin typeface="Aptos"/>
              </a:rPr>
              <a:t>Repeated / missing tile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80559" y="5001768"/>
            <a:ext cx="7104888" cy="658368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90288" y="5056632"/>
            <a:ext cx="6903720" cy="53035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6354E"/>
                </a:solidFill>
                <a:latin typeface="Aptos"/>
              </a:rPr>
              <a:t>Input validation reports an error.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51560" y="5623560"/>
            <a:ext cx="10058400" cy="5029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34440" y="5660136"/>
            <a:ext cx="969264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72B53"/>
                </a:solidFill>
                <a:latin typeface="Aptos"/>
              </a:rPr>
              <a:t>Record actual elapsed time and expanded-state counts after running the implementation.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1F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69E6"/>
                </a:solidFill>
                <a:latin typeface="Aptos"/>
              </a:rPr>
              <a:t>Conclusion &amp;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13816"/>
            <a:ext cx="777240" cy="50292"/>
          </a:xfrm>
          <a:prstGeom prst="rect">
            <a:avLst/>
          </a:prstGeom>
          <a:solidFill>
            <a:srgbClr val="58B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713232"/>
            <a:ext cx="978408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78D"/>
                </a:solidFill>
                <a:latin typeface="Aptos"/>
              </a:rPr>
              <a:t>What the project demonstrates and how it can be extended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8778D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303520" cy="448056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82296" cy="4480560"/>
          </a:xfrm>
          <a:prstGeom prst="rect">
            <a:avLst/>
          </a:prstGeom>
          <a:solidFill>
            <a:srgbClr val="1F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353312"/>
            <a:ext cx="4956048" cy="32918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2B53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746504"/>
            <a:ext cx="4937759" cy="38587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6354E"/>
                </a:solidFill>
                <a:latin typeface="Aptos"/>
              </a:rPr>
              <a:t>• Represents the 8-puzzle as a state-space search problem.
• Uses inversion parity to check solvability before searching.
• Applies A* with Manhattan distance to prioritize states.
• Reconstructs and displays a complete path to the goal.
• Demonstrates problem formulation, heuristic search and optimality.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303520" cy="448056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82296" cy="4480560"/>
          </a:xfrm>
          <a:prstGeom prst="rect">
            <a:avLst/>
          </a:prstGeom>
          <a:solidFill>
            <a:srgbClr val="58B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353312"/>
            <a:ext cx="4956048" cy="32918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2B53"/>
                </a:solidFill>
                <a:latin typeface="Aptos"/>
              </a:rPr>
              <a:t>Future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1746504"/>
            <a:ext cx="4937759" cy="38587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6354E"/>
                </a:solidFill>
                <a:latin typeface="Aptos"/>
              </a:rPr>
              <a:t>• Add a graphical interface with animated tile movements.
• Compare BFS, DFS, Greedy Best-First Search and A*.
• Visualize explored states and heuristic values.
• Generate performance charts across multiple test cases.
• Extend the design to the larger 15-puzzle.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1F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881360" cy="47548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F69E6"/>
                </a:solidFill>
                <a:latin typeface="Aptos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13816"/>
            <a:ext cx="777240" cy="50292"/>
          </a:xfrm>
          <a:prstGeom prst="rect">
            <a:avLst/>
          </a:prstGeom>
          <a:solidFill>
            <a:srgbClr val="58B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17320" y="713232"/>
            <a:ext cx="9784080" cy="2743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8778D"/>
                </a:solidFill>
                <a:latin typeface="Aptos"/>
              </a:rPr>
              <a:t>Core references listed in the project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411480" cy="1828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8778D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44200" cy="516636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CDDE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10149840" cy="47091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6354E"/>
                </a:solidFill>
                <a:latin typeface="Aptos"/>
              </a:defRPr>
            </a:pPr>
            <a:r>
              <a:t>•  Russell, S. and Norvig, P. (2021). Artificial Intelligence: A Modern Approach, 4th edition. Pearson.</a:t>
            </a:r>
          </a:p>
          <a:p>
            <a:pPr>
              <a:spcAft>
                <a:spcPts val="1000"/>
              </a:spcAft>
              <a:defRPr sz="1300">
                <a:solidFill>
                  <a:srgbClr val="26354E"/>
                </a:solidFill>
                <a:latin typeface="Aptos"/>
              </a:defRPr>
            </a:pPr>
            <a:r>
              <a:t>•  Hart, P. E., Nilsson, N. J. and Raphael, B. (1968). “A Formal Basis for the Heuristic Determination of Minimum Cost Paths.” IEEE Transactions on Systems Science and Cybernetics, 4(2), 100–107.</a:t>
            </a:r>
          </a:p>
          <a:p>
            <a:pPr>
              <a:spcAft>
                <a:spcPts val="1000"/>
              </a:spcAft>
              <a:defRPr sz="1300">
                <a:solidFill>
                  <a:srgbClr val="26354E"/>
                </a:solidFill>
                <a:latin typeface="Aptos"/>
              </a:defRPr>
            </a:pPr>
            <a:r>
              <a:t>•  Dijkstra, E. W. (1959). “A note on two problems in connexion with graphs.” Numerische Mathematik, 1, 269–271.</a:t>
            </a:r>
          </a:p>
          <a:p>
            <a:pPr>
              <a:spcAft>
                <a:spcPts val="1000"/>
              </a:spcAft>
              <a:defRPr sz="1300">
                <a:solidFill>
                  <a:srgbClr val="26354E"/>
                </a:solidFill>
                <a:latin typeface="Aptos"/>
              </a:defRPr>
            </a:pPr>
            <a:r>
              <a:t>•  Python Software Foundation. Python 3 Documentation. https://docs.python.org/3/</a:t>
            </a:r>
          </a:p>
          <a:p>
            <a:pPr>
              <a:spcAft>
                <a:spcPts val="1000"/>
              </a:spcAft>
              <a:defRPr sz="1300">
                <a:solidFill>
                  <a:srgbClr val="26354E"/>
                </a:solidFill>
                <a:latin typeface="Aptos"/>
              </a:defRPr>
            </a:pPr>
            <a:r>
              <a:t>•  Python Software Foundation. heapq — Heap queue algorithm. https://docs.python.org/3/library/heapq.html</a:t>
            </a:r>
          </a:p>
          <a:p>
            <a:pPr>
              <a:spcAft>
                <a:spcPts val="1000"/>
              </a:spcAft>
              <a:defRPr sz="1300">
                <a:solidFill>
                  <a:srgbClr val="26354E"/>
                </a:solidFill>
                <a:latin typeface="Aptos"/>
              </a:defRPr>
            </a:pPr>
            <a:r>
              <a:t>•  Korf, R. E. (1985). “Depth-first iterative-deepening: An optimal admissible tree search.” Artificial Intelligence, 27(1), 97–109.</a:t>
            </a:r>
          </a:p>
          <a:p>
            <a:pPr>
              <a:spcAft>
                <a:spcPts val="1000"/>
              </a:spcAft>
              <a:defRPr sz="1300">
                <a:solidFill>
                  <a:srgbClr val="26354E"/>
                </a:solidFill>
                <a:latin typeface="Aptos"/>
              </a:defRPr>
            </a:pPr>
            <a:r>
              <a:t>•  Nilsson, N. J. (1998). Artificial Intelligence: A New Synthesis. Morgan Kaufmann.</a:t>
            </a:r>
          </a:p>
        </p:txBody>
      </p:sp>
      <p:pic>
        <p:nvPicPr>
          <p:cNvPr id="8" name="Picture 7" descr="rec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5961888"/>
            <a:ext cx="1508760" cy="3840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1F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1204</Words>
  <Application>Microsoft Office PowerPoint</Application>
  <PresentationFormat>Widescreen</PresentationFormat>
  <Paragraphs>174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Jai Ganesh S</cp:lastModifiedBy>
  <cp:revision>2</cp:revision>
  <dcterms:created xsi:type="dcterms:W3CDTF">2013-01-27T09:14:16Z</dcterms:created>
  <dcterms:modified xsi:type="dcterms:W3CDTF">2026-10-22T06:40:58Z</dcterms:modified>
  <cp:category/>
</cp:coreProperties>
</file>